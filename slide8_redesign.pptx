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111111"/>
                </a:solidFill>
              </a:rPr>
              <a:t>账户动账风险｜资金安全用例现状（第8页改版）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595959"/>
                </a:solidFill>
              </a:rPr>
              <a:t>标签体系 × 接口分层 × 同源扩散（立体化视图）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0" y="1600200"/>
            <a:ext cx="10515600" cy="4297680"/>
          </a:xfrm>
          <a:prstGeom prst="roundRect">
            <a:avLst/>
          </a:prstGeom>
          <a:solidFill>
            <a:srgbClr val="EBF0FF"/>
          </a:solidFill>
          <a:ln w="19050">
            <a:solidFill>
              <a:srgbClr val="E1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9875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54EB"/>
                </a:solidFill>
              </a:rPr>
              <a:t>方法论 — 不变的建设基座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595959"/>
                </a:solidFill>
              </a:rPr>
              <a:t>标签体系：安全风险标签｜军规标签｜用例标签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595959"/>
                </a:solidFill>
              </a:rPr>
              <a:t>接口分层：资金流动｜信息流动｜非对账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595959"/>
                </a:solidFill>
              </a:rPr>
              <a:t>用例标准：场景化断言，正/反向成对构造，关键断言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" y="1444752"/>
            <a:ext cx="10515600" cy="4297680"/>
          </a:xfrm>
          <a:prstGeom prst="roundRect">
            <a:avLst/>
          </a:prstGeom>
          <a:solidFill>
            <a:srgbClr val="DCE6FF"/>
          </a:solidFill>
          <a:ln w="19050">
            <a:solidFill>
              <a:srgbClr val="D0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07592" y="1764792"/>
            <a:ext cx="9875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54EB"/>
                </a:solidFill>
              </a:rPr>
              <a:t>覆盖维度 — 构成立体防线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595959"/>
                </a:solidFill>
              </a:rPr>
              <a:t>防错：要素完整性、入参合规、计算口径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595959"/>
                </a:solidFill>
              </a:rPr>
              <a:t>防漏：配置/分支覆盖、状态迁移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595959"/>
                </a:solidFill>
              </a:rPr>
              <a:t>防重：幂等、重复与补偿处理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595959"/>
                </a:solidFill>
              </a:rPr>
              <a:t>防误：异常/时效、跨模块一致性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80160"/>
            <a:ext cx="1051560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00200"/>
            <a:ext cx="9875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54EB"/>
                </a:solidFill>
              </a:rPr>
              <a:t>结果与试点 — 订单交易场景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595959"/>
                </a:solidFill>
              </a:rPr>
              <a:t>接口打标示例：fx_exchange_server/fx_exchange_done_service</a:t>
            </a:r>
          </a:p>
          <a:p>
            <a:pPr lvl="1">
              <a:spcBef>
                <a:spcPts val="300"/>
              </a:spcBef>
            </a:pPr>
            <a:r>
              <a:rPr sz="1600" b="0">
                <a:solidFill>
                  <a:srgbClr val="595959"/>
                </a:solidFill>
              </a:rPr>
              <a:t>同源扩散：环境相关一致校验与关键断言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43484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544568"/>
            <a:ext cx="201168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</a:rPr>
              <a:t>161</a:t>
            </a:r>
          </a:p>
          <a:p>
            <a:pPr algn="l"/>
            <a:r>
              <a:rPr sz="1300" b="0">
                <a:solidFill>
                  <a:srgbClr val="595959"/>
                </a:solidFill>
              </a:rPr>
              <a:t>订单交易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40" y="443484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4544568"/>
            <a:ext cx="201168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</a:rPr>
              <a:t>87.76%</a:t>
            </a:r>
          </a:p>
          <a:p>
            <a:pPr algn="l"/>
            <a:r>
              <a:rPr sz="1300" b="0">
                <a:solidFill>
                  <a:srgbClr val="595959"/>
                </a:solidFill>
              </a:rPr>
              <a:t>资金接口识别率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43484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AA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544568"/>
            <a:ext cx="201168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</a:rPr>
              <a:t>75.31%</a:t>
            </a:r>
          </a:p>
          <a:p>
            <a:pPr algn="l"/>
            <a:r>
              <a:rPr sz="1300" b="0">
                <a:solidFill>
                  <a:srgbClr val="595959"/>
                </a:solidFill>
              </a:rPr>
              <a:t>资金接口PO自动化覆盖率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443484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4544568"/>
            <a:ext cx="2011680" cy="6949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</a:rPr>
              <a:t>7</a:t>
            </a:r>
          </a:p>
          <a:p>
            <a:pPr algn="l"/>
            <a:r>
              <a:rPr sz="1300" b="0">
                <a:solidFill>
                  <a:srgbClr val="595959"/>
                </a:solidFill>
              </a:rPr>
              <a:t>流量转用例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